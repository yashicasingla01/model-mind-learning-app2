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0545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05453"/>
                </a:solidFill>
                <a:latin typeface="Arial"/>
              </a:rPr>
              <a:t>Question difficulty follows mastery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question difficulty</c:v>
                </c:pt>
              </c:strCache>
            </c:strRef>
          </c:tx>
          <c:spPr>
            <a:solidFill>
              <a:srgbClr val="7A5AB8"/>
            </a:solidFill>
            <a:ln w="38100" cap="flat">
              <a:solidFill>
                <a:srgbClr val="7A5A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5AB8"/>
              </a:solidFill>
              <a:ln w="9525" cap="flat">
                <a:solidFill>
                  <a:srgbClr val="7A5A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  <c:pt idx="6">
                    <c:v>60%</c:v>
                  </c:pt>
                  <c:pt idx="7">
                    <c:v>70%</c:v>
                  </c:pt>
                  <c:pt idx="8">
                    <c:v>80%</c:v>
                  </c:pt>
                  <c:pt idx="9">
                    <c:v>90%</c:v>
                  </c:pt>
                  <c:pt idx="10">
                    <c:v>100%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0.15</c:v>
                </c:pt>
                <c:pt idx="1">
                  <c:v>0.25</c:v>
                </c:pt>
                <c:pt idx="2">
                  <c:v>0.35</c:v>
                </c:pt>
                <c:pt idx="3">
                  <c:v>0.45</c:v>
                </c:pt>
                <c:pt idx="4">
                  <c:v>0.55</c:v>
                </c:pt>
                <c:pt idx="5">
                  <c:v>0.65</c:v>
                </c:pt>
                <c:pt idx="6">
                  <c:v>0.75</c:v>
                </c:pt>
                <c:pt idx="7">
                  <c:v>0.85</c:v>
                </c:pt>
                <c:pt idx="8">
                  <c:v>0.95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0545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05453"/>
                </a:solidFill>
                <a:latin typeface="Arial"/>
              </a:rPr>
              <a:t>Mastery by topic (illustrative)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Mastered</c:v>
                </c:pt>
              </c:strCache>
            </c:strRef>
          </c:tx>
          <c:spPr>
            <a:solidFill>
              <a:srgbClr val="0F5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Topic A</c:v>
                  </c:pt>
                  <c:pt idx="1">
                    <c:v>Topic B</c:v>
                  </c:pt>
                  <c:pt idx="2">
                    <c:v>Topic C</c:v>
                  </c:pt>
                  <c:pt idx="3">
                    <c:v>Topic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0.9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Learning</c:v>
                </c:pt>
              </c:strCache>
            </c:strRef>
          </c:tx>
          <c:spPr>
            <a:solidFill>
              <a:srgbClr val="D0C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Topic A</c:v>
                  </c:pt>
                  <c:pt idx="1">
                    <c:v>Topic B</c:v>
                  </c:pt>
                  <c:pt idx="2">
                    <c:v>Topic C</c:v>
                  </c:pt>
                  <c:pt idx="3">
                    <c:v>Topic 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0.55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Weak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Topic A</c:v>
                  </c:pt>
                  <c:pt idx="1">
                    <c:v>Topic B</c:v>
                  </c:pt>
                  <c:pt idx="2">
                    <c:v>Topic C</c:v>
                  </c:pt>
                  <c:pt idx="3">
                    <c:v>Topic 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yet seen</c:v>
                </c:pt>
              </c:strCache>
            </c:strRef>
          </c:tx>
          <c:spPr>
            <a:solidFill>
              <a:srgbClr val="8129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Topic A</c:v>
                  </c:pt>
                  <c:pt idx="1">
                    <c:v>Topic B</c:v>
                  </c:pt>
                  <c:pt idx="2">
                    <c:v>Topic C</c:v>
                  </c:pt>
                  <c:pt idx="3">
                    <c:v>Topic D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0545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05453"/>
                </a:solidFill>
                <a:latin typeface="Arial"/>
              </a:rPr>
              <a:t>Mastery after each answer (BKT)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Mostly correct (CCCWCCC)</c:v>
                </c:pt>
              </c:strCache>
            </c:strRef>
          </c:tx>
          <c:spPr>
            <a:solidFill>
              <a:srgbClr val="187AB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0.66</c:v>
                </c:pt>
                <c:pt idx="1">
                  <c:v>0.913</c:v>
                </c:pt>
                <c:pt idx="2">
                  <c:v>0.982</c:v>
                </c:pt>
                <c:pt idx="3">
                  <c:v>0.893</c:v>
                </c:pt>
                <c:pt idx="4">
                  <c:v>0.978</c:v>
                </c:pt>
                <c:pt idx="5">
                  <c:v>0.996</c:v>
                </c:pt>
                <c:pt idx="6">
                  <c:v>0.999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Struggling (WCWCWCC)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0.184</c:v>
                </c:pt>
                <c:pt idx="1">
                  <c:v>0.578</c:v>
                </c:pt>
                <c:pt idx="2">
                  <c:v>0.274</c:v>
                </c:pt>
                <c:pt idx="3">
                  <c:v>0.685</c:v>
                </c:pt>
                <c:pt idx="4">
                  <c:v>0.332</c:v>
                </c:pt>
                <c:pt idx="5">
                  <c:v>0.737</c:v>
                </c:pt>
                <c:pt idx="6">
                  <c:v>0.938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0545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05453"/>
                </a:solidFill>
                <a:latin typeface="Arial"/>
              </a:rPr>
              <a:t>Expected mastery across sessions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 learner (0.35)</c:v>
                </c:pt>
              </c:strCache>
            </c:strRef>
          </c:tx>
          <c:spPr>
            <a:solidFill>
              <a:srgbClr val="2C927C"/>
            </a:solidFill>
            <a:ln w="38100" cap="flat">
              <a:solidFill>
                <a:srgbClr val="2C92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927C"/>
              </a:solidFill>
              <a:ln w="9525" cap="flat">
                <a:solidFill>
                  <a:srgbClr val="2C92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Start</c:v>
                  </c:pt>
                  <c:pt idx="1">
                    <c:v>S1</c:v>
                  </c:pt>
                  <c:pt idx="2">
                    <c:v>S2</c:v>
                  </c:pt>
                  <c:pt idx="3">
                    <c:v>S3</c:v>
                  </c:pt>
                  <c:pt idx="4">
                    <c:v>S4</c:v>
                  </c:pt>
                  <c:pt idx="5">
                    <c:v>S5</c:v>
                  </c:pt>
                  <c:pt idx="6">
                    <c:v>S6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</c:v>
                </c:pt>
                <c:pt idx="1">
                  <c:v>0.866</c:v>
                </c:pt>
                <c:pt idx="2">
                  <c:v>0.976</c:v>
                </c:pt>
                <c:pt idx="3">
                  <c:v>0.996</c:v>
                </c:pt>
                <c:pt idx="4">
                  <c:v>0.999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(0.20)</c:v>
                </c:pt>
              </c:strCache>
            </c:strRef>
          </c:tx>
          <c:spPr>
            <a:solidFill>
              <a:srgbClr val="187ABA"/>
            </a:solidFill>
            <a:ln w="38100" cap="flat">
              <a:solidFill>
                <a:srgbClr val="187AB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87ABA"/>
              </a:solidFill>
              <a:ln w="9525" cap="flat">
                <a:solidFill>
                  <a:srgbClr val="187AB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Start</c:v>
                  </c:pt>
                  <c:pt idx="1">
                    <c:v>S1</c:v>
                  </c:pt>
                  <c:pt idx="2">
                    <c:v>S2</c:v>
                  </c:pt>
                  <c:pt idx="3">
                    <c:v>S3</c:v>
                  </c:pt>
                  <c:pt idx="4">
                    <c:v>S4</c:v>
                  </c:pt>
                  <c:pt idx="5">
                    <c:v>S5</c:v>
                  </c:pt>
                  <c:pt idx="6">
                    <c:v>S6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0.25</c:v>
                </c:pt>
                <c:pt idx="1">
                  <c:v>0.693</c:v>
                </c:pt>
                <c:pt idx="2">
                  <c:v>0.874</c:v>
                </c:pt>
                <c:pt idx="3">
                  <c:v>0.948</c:v>
                </c:pt>
                <c:pt idx="4">
                  <c:v>0.979</c:v>
                </c:pt>
                <c:pt idx="5">
                  <c:v>0.991</c:v>
                </c:pt>
                <c:pt idx="6">
                  <c:v>0.996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Slow (0.10)</c:v>
                </c:pt>
              </c:strCache>
            </c:strRef>
          </c:tx>
          <c:spPr>
            <a:solidFill>
              <a:srgbClr val="812923"/>
            </a:solidFill>
            <a:ln w="38100" cap="flat">
              <a:solidFill>
                <a:srgbClr val="8129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12923"/>
              </a:solidFill>
              <a:ln w="9525" cap="flat">
                <a:solidFill>
                  <a:srgbClr val="8129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Start</c:v>
                  </c:pt>
                  <c:pt idx="1">
                    <c:v>S1</c:v>
                  </c:pt>
                  <c:pt idx="2">
                    <c:v>S2</c:v>
                  </c:pt>
                  <c:pt idx="3">
                    <c:v>S3</c:v>
                  </c:pt>
                  <c:pt idx="4">
                    <c:v>S4</c:v>
                  </c:pt>
                  <c:pt idx="5">
                    <c:v>S5</c:v>
                  </c:pt>
                  <c:pt idx="6">
                    <c:v>S6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0.25</c:v>
                </c:pt>
                <c:pt idx="1">
                  <c:v>0.508</c:v>
                </c:pt>
                <c:pt idx="2">
                  <c:v>0.677</c:v>
                </c:pt>
                <c:pt idx="3">
                  <c:v>0.788</c:v>
                </c:pt>
                <c:pt idx="4">
                  <c:v>0.861</c:v>
                </c:pt>
                <c:pt idx="5">
                  <c:v>0.909</c:v>
                </c:pt>
                <c:pt idx="6">
                  <c:v>0.94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Weak topic (s = 2 days)</c:v>
                </c:pt>
              </c:strCache>
            </c:strRef>
          </c:tx>
          <c:spPr>
            <a:solidFill>
              <a:srgbClr val="8129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5</c:v>
                  </c:pt>
                  <c:pt idx="3">
                    <c:v>Day 10</c:v>
                  </c:pt>
                  <c:pt idx="4">
                    <c:v>Day 14</c:v>
                  </c:pt>
                  <c:pt idx="5">
                    <c:v>Day 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0.607</c:v>
                </c:pt>
                <c:pt idx="1">
                  <c:v>0.368</c:v>
                </c:pt>
                <c:pt idx="2">
                  <c:v>0.082</c:v>
                </c:pt>
                <c:pt idx="3">
                  <c:v>0.007</c:v>
                </c:pt>
                <c:pt idx="4">
                  <c:v>0.001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topic (s = 5 days)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5</c:v>
                  </c:pt>
                  <c:pt idx="3">
                    <c:v>Day 10</c:v>
                  </c:pt>
                  <c:pt idx="4">
                    <c:v>Day 14</c:v>
                  </c:pt>
                  <c:pt idx="5">
                    <c:v>Day 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0.819</c:v>
                </c:pt>
                <c:pt idx="1">
                  <c:v>0.67</c:v>
                </c:pt>
                <c:pt idx="2">
                  <c:v>0.368</c:v>
                </c:pt>
                <c:pt idx="3">
                  <c:v>0.135</c:v>
                </c:pt>
                <c:pt idx="4">
                  <c:v>0.061</c:v>
                </c:pt>
                <c:pt idx="5">
                  <c:v>0.002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Strong topic (s = 12 days)</c:v>
                </c:pt>
              </c:strCache>
            </c:strRef>
          </c:tx>
          <c:spPr>
            <a:solidFill>
              <a:srgbClr val="0F5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5</c:v>
                  </c:pt>
                  <c:pt idx="3">
                    <c:v>Day 10</c:v>
                  </c:pt>
                  <c:pt idx="4">
                    <c:v>Day 14</c:v>
                  </c:pt>
                  <c:pt idx="5">
                    <c:v>Day 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0.92</c:v>
                </c:pt>
                <c:pt idx="1">
                  <c:v>0.846</c:v>
                </c:pt>
                <c:pt idx="2">
                  <c:v>0.659</c:v>
                </c:pt>
                <c:pt idx="3">
                  <c:v>0.435</c:v>
                </c:pt>
                <c:pt idx="4">
                  <c:v>0.311</c:v>
                </c:pt>
                <c:pt idx="5">
                  <c:v>0.082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0545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05453"/>
                </a:solidFill>
                <a:latin typeface="Arial"/>
              </a:rPr>
              <a:t>Judging weights (Track D)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87ABA"/>
              </a:solidFill>
              <a:effectLst/>
            </c:spPr>
          </c:dPt>
          <c:dPt>
            <c:idx val="1"/>
            <c:bubble3D val="0"/>
            <c:spPr>
              <a:solidFill>
                <a:srgbClr val="1FA6A0"/>
              </a:solidFill>
              <a:effectLst/>
            </c:spPr>
          </c:dPt>
          <c:dPt>
            <c:idx val="2"/>
            <c:bubble3D val="0"/>
            <c:spPr>
              <a:solidFill>
                <a:srgbClr val="7A5AB8"/>
              </a:solidFill>
              <a:effectLst/>
            </c:spPr>
          </c:dPt>
          <c:dPt>
            <c:idx val="3"/>
            <c:bubble3D val="0"/>
            <c:spPr>
              <a:solidFill>
                <a:srgbClr val="E8833A"/>
              </a:solidFill>
              <a:effectLst/>
            </c:spPr>
          </c:dPt>
          <c:dPt>
            <c:idx val="4"/>
            <c:bubble3D val="0"/>
            <c:spPr>
              <a:solidFill>
                <a:srgbClr val="2C927C"/>
              </a:solidFill>
              <a:effectLst/>
            </c:spPr>
          </c:dPt>
          <c:dPt>
            <c:idx val="5"/>
            <c:bubble3D val="0"/>
            <c:spPr>
              <a:solidFill>
                <a:srgbClr val="0F5F8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Knowledge Base</c:v>
                </c:pt>
                <c:pt idx="1">
                  <c:v>Assessment</c:v>
                </c:pt>
                <c:pt idx="2">
                  <c:v>Personalization</c:v>
                </c:pt>
                <c:pt idx="3">
                  <c:v>UX and Demo</c:v>
                </c:pt>
                <c:pt idx="4">
                  <c:v>System Eval</c:v>
                </c:pt>
                <c:pt idx="5">
                  <c:v>Technical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20</c:v>
                </c:pt>
                <c:pt idx="1">
                  <c:v>15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Modal Mind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AI Hackathon 2026.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051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D: Personalized Tutoring &amp; Adaptive Learning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source-grounded AI study companion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480560" cy="54864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+ PDF/slide parsing + vision-LLM for figures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828800"/>
            <a:ext cx="4480560" cy="54864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(dense + keyword) over source-linked units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2514600"/>
            <a:ext cx="4480560" cy="54864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tutor LLM with citations and a refusal gate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3200400"/>
            <a:ext cx="4480560" cy="54864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Knowledge Tracing + spaced-repetition learner model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886200"/>
            <a:ext cx="4480560" cy="548640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/ DeepEval evaluation with simulated students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stack: exact libraries and models are confirmed during the build.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- Phases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29184" cy="329184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0972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videos, textbooks and slides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329184" cy="329184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572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topics, concepts, prerequisites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8256"/>
            <a:ext cx="329184" cy="329184"/>
          </a:xfrm>
          <a:prstGeom prst="ellipse">
            <a:avLst/>
          </a:prstGeom>
          <a:solidFill>
            <a:srgbClr val="7A5A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482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Ground: cited retrieval with refusal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23744"/>
            <a:ext cx="329184" cy="329184"/>
          </a:xfrm>
          <a:prstGeom prst="ellipse">
            <a:avLst/>
          </a:prstGeom>
          <a:solidFill>
            <a:srgbClr val="1FA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237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Assess: verified, adaptive quizzes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99232"/>
            <a:ext cx="329184" cy="329184"/>
          </a:xfrm>
          <a:prstGeom prst="ellipse">
            <a:avLst/>
          </a:prstGeom>
          <a:solidFill>
            <a:srgbClr val="2C92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992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 learner: per-topic mastery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74720"/>
            <a:ext cx="329184" cy="329184"/>
          </a:xfrm>
          <a:prstGeom prst="ellipse">
            <a:avLst/>
          </a:prstGeom>
          <a:solidFill>
            <a:srgbClr val="8129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4747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Evaluate: RAGAS + simulated students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37760" y="1097280"/>
            <a:ext cx="3474720" cy="3474720"/>
          </a:xfrm>
          <a:prstGeom prst="ellipse">
            <a:avLst/>
          </a:prstGeom>
          <a:solidFill>
            <a:srgbClr val="FBE9DA"/>
          </a:solidFill>
          <a:ln w="15875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1430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loop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1508760"/>
            <a:ext cx="2651760" cy="2651760"/>
          </a:xfrm>
          <a:prstGeom prst="ellipse">
            <a:avLst/>
          </a:prstGeom>
          <a:solidFill>
            <a:srgbClr val="EAE3F5"/>
          </a:solidFill>
          <a:ln w="15875">
            <a:solidFill>
              <a:srgbClr val="7A5A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1554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tutor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1920240"/>
            <a:ext cx="1828800" cy="1828800"/>
          </a:xfrm>
          <a:prstGeom prst="ellipse">
            <a:avLst/>
          </a:prstGeom>
          <a:solidFill>
            <a:srgbClr val="D6F0EE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965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graph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331720"/>
            <a:ext cx="1005840" cy="1005840"/>
          </a:xfrm>
          <a:prstGeom prst="ellipse">
            <a:avLst/>
          </a:prstGeom>
          <a:solidFill>
            <a:srgbClr val="CFE7F5"/>
          </a:solidFill>
          <a:ln w="15875">
            <a:solidFill>
              <a:srgbClr val="187AB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0" y="2377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7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units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1737360"/>
            <a:ext cx="146304" cy="146304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920240"/>
            <a:ext cx="146304" cy="146304"/>
          </a:xfrm>
          <a:prstGeom prst="ellipse">
            <a:avLst/>
          </a:prstGeom>
          <a:solidFill>
            <a:srgbClr val="7A5A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200400"/>
            <a:ext cx="146304" cy="146304"/>
          </a:xfrm>
          <a:prstGeom prst="ellipse">
            <a:avLst/>
          </a:prstGeom>
          <a:solidFill>
            <a:srgbClr val="1FA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57600"/>
            <a:ext cx="146304" cy="146304"/>
          </a:xfrm>
          <a:prstGeom prst="ellipse">
            <a:avLst/>
          </a:prstGeom>
          <a:solidFill>
            <a:srgbClr val="8129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206240"/>
            <a:ext cx="146304" cy="146304"/>
          </a:xfrm>
          <a:prstGeom prst="ellipse">
            <a:avLst/>
          </a:prstGeom>
          <a:solidFill>
            <a:srgbClr val="2C92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2880360"/>
            <a:ext cx="274320" cy="274320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365760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343400"/>
            <a:ext cx="182880" cy="182880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343400"/>
            <a:ext cx="182880" cy="182880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828800" y="4343400"/>
            <a:ext cx="182880" cy="182880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4343400"/>
            <a:ext cx="182880" cy="182880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343400"/>
            <a:ext cx="182880" cy="182880"/>
          </a:xfrm>
          <a:prstGeom prst="ellipse">
            <a:avLst/>
          </a:prstGeom>
          <a:solidFill>
            <a:srgbClr val="8129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4572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572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update mastery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4572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date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- Knowledge Unit Extraction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86384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01168" cy="201168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1417320"/>
            <a:ext cx="201168" cy="201168"/>
          </a:xfrm>
          <a:prstGeom prst="ellipse">
            <a:avLst/>
          </a:prstGeom>
          <a:solidFill>
            <a:srgbClr val="1FA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417320"/>
            <a:ext cx="201168" cy="201168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417320"/>
            <a:ext cx="201168" cy="201168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417320"/>
            <a:ext cx="201168" cy="201168"/>
          </a:xfrm>
          <a:prstGeom prst="ellipse">
            <a:avLst/>
          </a:prstGeom>
          <a:solidFill>
            <a:srgbClr val="7A5A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417320"/>
            <a:ext cx="201168" cy="201168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417320"/>
            <a:ext cx="201168" cy="201168"/>
          </a:xfrm>
          <a:prstGeom prst="ellipse">
            <a:avLst/>
          </a:prstGeom>
          <a:solidFill>
            <a:srgbClr val="2C92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6916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cut at natural boundaries: page, slide, timestamp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units: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182880" cy="1828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segments (timestamp)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182880" cy="182880"/>
          </a:xfrm>
          <a:prstGeom prst="rect">
            <a:avLst/>
          </a:prstGeom>
          <a:solidFill>
            <a:srgbClr val="187AB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2907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 passages (page)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182880" cy="182880"/>
          </a:xfrm>
          <a:prstGeom prst="rect">
            <a:avLst/>
          </a:prstGeom>
          <a:solidFill>
            <a:srgbClr val="7A5AB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255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text (slide number)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48456"/>
            <a:ext cx="182880" cy="182880"/>
          </a:xfrm>
          <a:prstGeom prst="rect">
            <a:avLst/>
          </a:prstGeom>
          <a:solidFill>
            <a:srgbClr val="2C927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602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and diagrams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95928"/>
            <a:ext cx="182880" cy="182880"/>
          </a:xfrm>
          <a:prstGeom prst="rect">
            <a:avLst/>
          </a:prstGeom>
          <a:solidFill>
            <a:srgbClr val="1FA6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3950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and equations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2194560"/>
            <a:ext cx="1554480" cy="45720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unit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page / slide / timestamp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31920" y="2651760"/>
            <a:ext cx="0" cy="411480"/>
          </a:xfrm>
          <a:prstGeom prst="line">
            <a:avLst/>
          </a:prstGeom>
          <a:noFill/>
          <a:ln w="76200">
            <a:solidFill>
              <a:srgbClr val="A9CD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3063240"/>
            <a:ext cx="274320" cy="0"/>
          </a:xfrm>
          <a:prstGeom prst="line">
            <a:avLst/>
          </a:prstGeom>
          <a:noFill/>
          <a:ln w="76200">
            <a:solidFill>
              <a:srgbClr val="A9CDE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206240" y="2880360"/>
            <a:ext cx="1554480" cy="45720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tags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Topic, subtopic and concept labels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3337560"/>
            <a:ext cx="0" cy="411480"/>
          </a:xfrm>
          <a:prstGeom prst="line">
            <a:avLst/>
          </a:prstGeom>
          <a:noFill/>
          <a:ln w="76200">
            <a:solidFill>
              <a:srgbClr val="A9CD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3749040"/>
            <a:ext cx="274320" cy="0"/>
          </a:xfrm>
          <a:prstGeom prst="line">
            <a:avLst/>
          </a:prstGeom>
          <a:noFill/>
          <a:ln w="76200">
            <a:solidFill>
              <a:srgbClr val="A9CDE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754880" y="3566160"/>
            <a:ext cx="1554480" cy="45720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edges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needed first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pass through a vision model; the description becomes a unit linked to its page or slide.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Journeys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52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student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0" y="1394460"/>
            <a:ext cx="960120" cy="0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240280" y="1143000"/>
            <a:ext cx="502920" cy="502920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chat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06240" y="1394460"/>
            <a:ext cx="960120" cy="0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703320" y="1143000"/>
            <a:ext cx="502920" cy="502920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quiz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394460"/>
            <a:ext cx="960120" cy="0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166360" y="1143000"/>
            <a:ext cx="502920" cy="502920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mastery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143000"/>
            <a:ext cx="502920" cy="502920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91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lesson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history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1854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7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2327148"/>
            <a:ext cx="960120" cy="0"/>
          </a:xfrm>
          <a:prstGeom prst="line">
            <a:avLst/>
          </a:prstGeom>
          <a:noFill/>
          <a:ln w="19050">
            <a:solidFill>
              <a:srgbClr val="187AB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240280" y="2075688"/>
            <a:ext cx="502920" cy="502920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2624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mastery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0" y="2327148"/>
            <a:ext cx="960120" cy="0"/>
          </a:xfrm>
          <a:prstGeom prst="line">
            <a:avLst/>
          </a:prstGeom>
          <a:noFill/>
          <a:ln w="19050">
            <a:solidFill>
              <a:srgbClr val="187AB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703320" y="2075688"/>
            <a:ext cx="502920" cy="502920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2624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weak topic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0" y="2327148"/>
            <a:ext cx="960120" cy="0"/>
          </a:xfrm>
          <a:prstGeom prst="line">
            <a:avLst/>
          </a:prstGeom>
          <a:noFill/>
          <a:ln w="19050">
            <a:solidFill>
              <a:srgbClr val="187ABA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166360" y="2075688"/>
            <a:ext cx="502920" cy="502920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2624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+ citations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2075688"/>
            <a:ext cx="502920" cy="502920"/>
          </a:xfrm>
          <a:prstGeom prst="ellipse">
            <a:avLst/>
          </a:prstGeom>
          <a:solidFill>
            <a:srgbClr val="187AB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624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mastery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2121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87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1181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5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prep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0" y="3259836"/>
            <a:ext cx="960120" cy="0"/>
          </a:xfrm>
          <a:prstGeom prst="line">
            <a:avLst/>
          </a:prstGeom>
          <a:noFill/>
          <a:ln w="19050">
            <a:solidFill>
              <a:srgbClr val="7A5AB8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240280" y="3008376"/>
            <a:ext cx="502920" cy="502920"/>
          </a:xfrm>
          <a:prstGeom prst="ellipse">
            <a:avLst/>
          </a:prstGeom>
          <a:solidFill>
            <a:srgbClr val="7A5A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828800" y="35570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+ date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3259836"/>
            <a:ext cx="960120" cy="0"/>
          </a:xfrm>
          <a:prstGeom prst="line">
            <a:avLst/>
          </a:prstGeom>
          <a:noFill/>
          <a:ln w="19050">
            <a:solidFill>
              <a:srgbClr val="7A5AB8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703320" y="3008376"/>
            <a:ext cx="502920" cy="502920"/>
          </a:xfrm>
          <a:prstGeom prst="ellipse">
            <a:avLst/>
          </a:prstGeom>
          <a:solidFill>
            <a:srgbClr val="7A5A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35570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exam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0" y="3259836"/>
            <a:ext cx="960120" cy="0"/>
          </a:xfrm>
          <a:prstGeom prst="line">
            <a:avLst/>
          </a:prstGeom>
          <a:noFill/>
          <a:ln w="19050">
            <a:solidFill>
              <a:srgbClr val="7A5AB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166360" y="3008376"/>
            <a:ext cx="502920" cy="502920"/>
          </a:xfrm>
          <a:prstGeom prst="ellipse">
            <a:avLst/>
          </a:prstGeom>
          <a:solidFill>
            <a:srgbClr val="7A5A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754880" y="35570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Weak-topic report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3008376"/>
            <a:ext cx="502920" cy="502920"/>
          </a:xfrm>
          <a:prstGeom prst="ellipse">
            <a:avLst/>
          </a:prstGeom>
          <a:solidFill>
            <a:srgbClr val="7A5A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217920" y="35570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schedule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818120" y="30540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A5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050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A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743200" y="4192524"/>
            <a:ext cx="960120" cy="0"/>
          </a:xfrm>
          <a:prstGeom prst="line">
            <a:avLst/>
          </a:prstGeom>
          <a:noFill/>
          <a:ln w="19050">
            <a:solidFill>
              <a:srgbClr val="1FA6A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2240280" y="3941064"/>
            <a:ext cx="502920" cy="502920"/>
          </a:xfrm>
          <a:prstGeom prst="ellipse">
            <a:avLst/>
          </a:prstGeom>
          <a:solidFill>
            <a:srgbClr val="1FA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828800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topics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06240" y="4192524"/>
            <a:ext cx="960120" cy="0"/>
          </a:xfrm>
          <a:prstGeom prst="line">
            <a:avLst/>
          </a:prstGeom>
          <a:noFill/>
          <a:ln w="19050">
            <a:solidFill>
              <a:srgbClr val="1FA6A0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3703320" y="3941064"/>
            <a:ext cx="502920" cy="502920"/>
          </a:xfrm>
          <a:prstGeom prst="ellipse">
            <a:avLst/>
          </a:prstGeom>
          <a:solidFill>
            <a:srgbClr val="1FA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291840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69280" y="4192524"/>
            <a:ext cx="960120" cy="0"/>
          </a:xfrm>
          <a:prstGeom prst="line">
            <a:avLst/>
          </a:prstGeom>
          <a:noFill/>
          <a:ln w="19050">
            <a:solidFill>
              <a:srgbClr val="1FA6A0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5166360" y="3941064"/>
            <a:ext cx="502920" cy="502920"/>
          </a:xfrm>
          <a:prstGeom prst="ellipse">
            <a:avLst/>
          </a:prstGeom>
          <a:solidFill>
            <a:srgbClr val="1FA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754880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629400" y="3941064"/>
            <a:ext cx="502920" cy="502920"/>
          </a:xfrm>
          <a:prstGeom prst="ellipse">
            <a:avLst/>
          </a:prstGeom>
          <a:solidFill>
            <a:srgbClr val="1FA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217920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Re-schedule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7818120" y="39867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A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Spaced repetition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828800" cy="41148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videos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417320" y="1508760"/>
            <a:ext cx="0" cy="36576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502920" y="1920240"/>
            <a:ext cx="1828800" cy="41148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+ timestamps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097280"/>
            <a:ext cx="1828800" cy="41148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Textbooks (PDF)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0" cy="365760"/>
          </a:xfrm>
          <a:prstGeom prst="line">
            <a:avLst/>
          </a:prstGeom>
          <a:noFill/>
          <a:ln w="38100">
            <a:solidFill>
              <a:srgbClr val="187ABA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514600" y="1920240"/>
            <a:ext cx="1828800" cy="41148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layout parse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097280"/>
            <a:ext cx="1828800" cy="41148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decks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1508760"/>
            <a:ext cx="0" cy="365760"/>
          </a:xfrm>
          <a:prstGeom prst="line">
            <a:avLst/>
          </a:prstGeom>
          <a:noFill/>
          <a:ln w="38100">
            <a:solidFill>
              <a:srgbClr val="7A5AB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526280" y="1920240"/>
            <a:ext cx="1828800" cy="41148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figures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847088"/>
            <a:ext cx="6126480" cy="557784"/>
          </a:xfrm>
          <a:prstGeom prst="rect">
            <a:avLst/>
          </a:prstGeom>
          <a:ln w="12700">
            <a:solidFill>
              <a:srgbClr val="8129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404872"/>
            <a:ext cx="0" cy="338328"/>
          </a:xfrm>
          <a:prstGeom prst="line">
            <a:avLst/>
          </a:prstGeom>
          <a:noFill/>
          <a:ln w="38100">
            <a:solidFill>
              <a:srgbClr val="812923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783080" y="2743200"/>
            <a:ext cx="3383280" cy="50292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base: units · topics · concepts · prerequisites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3886200"/>
            <a:ext cx="1417320" cy="50292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tutor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1120140" y="3246120"/>
            <a:ext cx="2354580" cy="640080"/>
          </a:xfrm>
          <a:prstGeom prst="line">
            <a:avLst/>
          </a:prstGeom>
          <a:noFill/>
          <a:ln w="25400">
            <a:solidFill>
              <a:srgbClr val="187AB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011680" y="3886200"/>
            <a:ext cx="1417320" cy="50292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engine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H="1">
            <a:off x="2720340" y="3246120"/>
            <a:ext cx="754380" cy="64008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611880" y="3886200"/>
            <a:ext cx="1417320" cy="50292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3246120"/>
            <a:ext cx="845820" cy="640080"/>
          </a:xfrm>
          <a:prstGeom prst="line">
            <a:avLst/>
          </a:prstGeom>
          <a:noFill/>
          <a:ln w="25400">
            <a:solidFill>
              <a:srgbClr val="7A5AB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212080" y="3886200"/>
            <a:ext cx="1417320" cy="502920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246120"/>
            <a:ext cx="2446020" cy="640080"/>
          </a:xfrm>
          <a:prstGeom prst="line">
            <a:avLst/>
          </a:prstGeom>
          <a:noFill/>
          <a:ln w="25400">
            <a:solidFill>
              <a:srgbClr val="2C927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903720" y="1188720"/>
            <a:ext cx="1783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unit keeps its origin (page, slide or timestamp). Quiz results update the learner model, which steers the next question and the tutor.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- Unit Schema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2011680" cy="457200"/>
          </a:xfrm>
          <a:prstGeom prst="rect">
            <a:avLst/>
          </a:prstGeom>
          <a:solidFill>
            <a:srgbClr val="0F5F8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463040" y="1600200"/>
            <a:ext cx="0" cy="228600"/>
          </a:xfrm>
          <a:prstGeom prst="line">
            <a:avLst/>
          </a:prstGeom>
          <a:noFill/>
          <a:ln w="50800">
            <a:solidFill>
              <a:srgbClr val="A9CDE6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566928" y="1828800"/>
            <a:ext cx="2011680" cy="45720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572768" y="2286000"/>
            <a:ext cx="0" cy="228600"/>
          </a:xfrm>
          <a:prstGeom prst="line">
            <a:avLst/>
          </a:prstGeom>
          <a:noFill/>
          <a:ln w="50800">
            <a:solidFill>
              <a:srgbClr val="A9CDE6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676656" y="2514600"/>
            <a:ext cx="2011680" cy="45720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Subtopic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82496" y="2971800"/>
            <a:ext cx="0" cy="228600"/>
          </a:xfrm>
          <a:prstGeom prst="line">
            <a:avLst/>
          </a:prstGeom>
          <a:noFill/>
          <a:ln w="50800">
            <a:solidFill>
              <a:srgbClr val="A9CDE6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86384" y="3200400"/>
            <a:ext cx="2011680" cy="457200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92224" y="3657600"/>
            <a:ext cx="0" cy="228600"/>
          </a:xfrm>
          <a:prstGeom prst="line">
            <a:avLst/>
          </a:prstGeom>
          <a:noFill/>
          <a:ln w="50800">
            <a:solidFill>
              <a:srgbClr val="A9CDE6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896112" y="3886200"/>
            <a:ext cx="2011680" cy="45720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unit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143000"/>
          <a:ext cx="5577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B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unit_id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ID of a content unit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source_type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Video, textbook or slides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number, slide number or video timestamp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Transcript segment, passage or slide 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figure_desc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 description of an image or diagram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topic_id, concept_ids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Tags to topic, subtopic and key concepts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prereq_ids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Concepts that must be understood first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Grounding - Answer or Refuse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48840"/>
            <a:ext cx="1463040" cy="64008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148840"/>
            <a:ext cx="1463040" cy="64008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top-k units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2148840"/>
            <a:ext cx="1371600" cy="640080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gate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2468880"/>
            <a:ext cx="365760" cy="0"/>
          </a:xfrm>
          <a:prstGeom prst="line">
            <a:avLst/>
          </a:prstGeom>
          <a:noFill/>
          <a:ln w="31750">
            <a:solidFill>
              <a:srgbClr val="81292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2468880"/>
            <a:ext cx="365760" cy="0"/>
          </a:xfrm>
          <a:prstGeom prst="line">
            <a:avLst/>
          </a:prstGeom>
          <a:noFill/>
          <a:ln w="31750">
            <a:solidFill>
              <a:srgbClr val="81292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5486400" y="1691640"/>
            <a:ext cx="365760" cy="777240"/>
          </a:xfrm>
          <a:prstGeom prst="line">
            <a:avLst/>
          </a:prstGeom>
          <a:noFill/>
          <a:ln w="31750">
            <a:solidFill>
              <a:srgbClr val="81292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0" y="2468880"/>
            <a:ext cx="365760" cy="914400"/>
          </a:xfrm>
          <a:prstGeom prst="line">
            <a:avLst/>
          </a:prstGeom>
          <a:noFill/>
          <a:ln w="31750">
            <a:solidFill>
              <a:srgbClr val="812923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852160" y="1234440"/>
            <a:ext cx="2834640" cy="914400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Covered: cited answer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like [Slide 7] [p. 42] [12:41] open the exact source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926080"/>
            <a:ext cx="2834640" cy="914400"/>
          </a:xfrm>
          <a:prstGeom prst="rect">
            <a:avLst/>
          </a:prstGeom>
          <a:solidFill>
            <a:srgbClr val="81292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covered: flagged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the material lacks it; outside knowledge is labeled separately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citation must resolve to a real stored unit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sentences are checked against retrieved text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knowledge is never mixed in silently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Source-backed vs Flagged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2326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student queries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concept from Lecture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27632"/>
            <a:ext cx="1280160" cy="292608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figure on slide 7 show?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130552"/>
            <a:ext cx="1280160" cy="292608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 methods from Ch. 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633472"/>
            <a:ext cx="1280160" cy="292608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Derivation skipped in class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136392"/>
            <a:ext cx="1280160" cy="292608"/>
          </a:xfrm>
          <a:prstGeom prst="rect">
            <a:avLst/>
          </a:prstGeom>
          <a:solidFill>
            <a:srgbClr val="B8892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partly covered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research on the topic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639312"/>
            <a:ext cx="1280160" cy="292608"/>
          </a:xfrm>
          <a:prstGeom prst="rect">
            <a:avLst/>
          </a:prstGeom>
          <a:solidFill>
            <a:srgbClr val="81292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material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night's match result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4142232"/>
            <a:ext cx="1280160" cy="292608"/>
          </a:xfrm>
          <a:prstGeom prst="rect">
            <a:avLst/>
          </a:prstGeom>
          <a:solidFill>
            <a:srgbClr val="81292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material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format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1645920"/>
            <a:ext cx="1051560" cy="310896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645920"/>
            <a:ext cx="1051560" cy="310896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42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645920"/>
            <a:ext cx="1051560" cy="310896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12:41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1945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explanation at the student's level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chips point to the exact page, slide or timestamp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opens the source in context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Labeled: source-backed or outside knowledge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Assessment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types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answer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problems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exams, diagnostic quiz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tagged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and concept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level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+ rationale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1920240" cy="36576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before use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Numerics re-solved in code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Cross-model validation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if models disagree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retrieved units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097280"/>
            <a:ext cx="1920240" cy="36576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repeated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57276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Per-student question log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check on new items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chosen by student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follows mastery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3017520"/>
          <a:ext cx="51206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852160" y="3108960"/>
            <a:ext cx="2834640" cy="155448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rule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difficulty = current mastery + 15 points, capped at 100%. Questions stay just above the student's level. The 15-point offset is an assumed design value.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and Post-Assessment Report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97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297680" cy="41148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Post-assessment report (illustrative layout)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4023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A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A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misconception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A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 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Applies a formula without its conditions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 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Mixes up two related terms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 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 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seen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answer gets cited feedback that links to the source explaining it.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37760" y="1097280"/>
          <a:ext cx="3749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937760" y="4069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topics feed the next quiz, the revision material and the study schedule. Values are sample data.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Plan - Metrics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1554480"/>
                <a:gridCol w="21945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checks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7ABA"/>
                    </a:solidFill>
                  </a:tcPr>
                </a:tc>
              </a:tr>
              <a:tr h="30175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Faithfulness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supported by retrieved 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Questions with known source location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relevancy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addresses the question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test set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precision / 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units found, none missed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test set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Off-material refusal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Unsupported queries declined or flagged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check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Off-material queries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Answer-key correctness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confirmed by code or a second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Cross-model validation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Generated questions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Repetition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Repeated questions across sessions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 log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Multi-session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Mastery gain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Mastery after vs before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Simulated profiles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Several sessions per profile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results are shown: figures will be reported from the team's actual test-set run.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Model - Mastery Over Time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0584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computations with assumed parameters, not experimental data. Left: BKT with P(L0)=0.25, P(T)=0.15, slip 0.10, guess 0.20 (C = correct, W = wrong). Right: 4 questions per session; the learning rate per attempt is shown in brackets.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Curve and Review Timing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exponential curve R = e^(-t/s) with assumed stability s. Weaker topics get shorter review intervals in the study schedule.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Criteria Coverage - 1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and Grounding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2651760" cy="320040"/>
          </a:xfrm>
          <a:prstGeom prst="rect">
            <a:avLst/>
          </a:prstGeom>
          <a:solidFill>
            <a:srgbClr val="D0CB4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20%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extraction, incl. figures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/ slide / timestamp links kept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citations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queries refused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Quality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554480"/>
            <a:ext cx="2651760" cy="320040"/>
          </a:xfrm>
          <a:prstGeom prst="rect">
            <a:avLst/>
          </a:prstGeom>
          <a:solidFill>
            <a:srgbClr val="D0CB4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15%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517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0116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Tagged MCQ, short, numerical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answer keys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repeated questions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feedback and report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554480"/>
            <a:ext cx="2651760" cy="320040"/>
          </a:xfrm>
          <a:prstGeom prst="rect">
            <a:avLst/>
          </a:prstGeom>
          <a:solidFill>
            <a:srgbClr val="D0CB4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20%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6517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0116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Per-topic mastery (BKT)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for new students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adapts to mastery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measured on simulated students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are taken from the Track D evaluation criteria.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Criteria Coverage - 2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3200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703320" y="1097280"/>
            <a:ext cx="1600200" cy="59436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and Demo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3703320" y="1691640"/>
            <a:ext cx="1600200" cy="320040"/>
          </a:xfrm>
          <a:prstGeom prst="rect">
            <a:avLst/>
          </a:prstGeom>
          <a:solidFill>
            <a:srgbClr val="D0CB4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15%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703320" y="2011680"/>
            <a:ext cx="1600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794760" y="2148840"/>
            <a:ext cx="1417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mastery, weak topics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Upload, chat, quiz in one flow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flow map (optional)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3-10 minute demo video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097280"/>
            <a:ext cx="1600200" cy="594360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Evaluation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691640"/>
            <a:ext cx="1600200" cy="320040"/>
          </a:xfrm>
          <a:prstGeom prst="rect">
            <a:avLst/>
          </a:prstGeom>
          <a:solidFill>
            <a:srgbClr val="D0CB4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15%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94960" y="2011680"/>
            <a:ext cx="1600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2148840"/>
            <a:ext cx="1417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/ DeepEval metrics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with known sources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Off-material queries included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reported honestly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097280"/>
            <a:ext cx="1600200" cy="594360"/>
          </a:xfrm>
          <a:prstGeom prst="rect">
            <a:avLst/>
          </a:prstGeom>
          <a:solidFill>
            <a:srgbClr val="0F5F8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1691640"/>
            <a:ext cx="1600200" cy="320040"/>
          </a:xfrm>
          <a:prstGeom prst="rect">
            <a:avLst/>
          </a:prstGeom>
          <a:solidFill>
            <a:srgbClr val="D0CB4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15%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2011680"/>
            <a:ext cx="16002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78040" y="2148840"/>
            <a:ext cx="1417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pipeline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architecture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grounding method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learner model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4343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are taken from the Track D evaluation criteria.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scalability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3108960" cy="2606040"/>
          </a:xfrm>
          <a:prstGeom prst="roundRect">
            <a:avLst>
              <a:gd name="adj" fmla="val 3509"/>
            </a:avLst>
          </a:prstGeom>
          <a:ln w="19050">
            <a:solidFill>
              <a:srgbClr val="187AB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7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ingestion workers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011680"/>
            <a:ext cx="566928" cy="41148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011680"/>
            <a:ext cx="566928" cy="41148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11680"/>
            <a:ext cx="566928" cy="41148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11680"/>
            <a:ext cx="566928" cy="41148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97480"/>
            <a:ext cx="566928" cy="41148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697480"/>
            <a:ext cx="566928" cy="41148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97480"/>
            <a:ext cx="566928" cy="41148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97480"/>
            <a:ext cx="566928" cy="41148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83280"/>
            <a:ext cx="566928" cy="41148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383280"/>
            <a:ext cx="566928" cy="41148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383280"/>
            <a:ext cx="566928" cy="41148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383280"/>
            <a:ext cx="566928" cy="41148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697480"/>
            <a:ext cx="201168" cy="201168"/>
          </a:xfrm>
          <a:prstGeom prst="ellipse">
            <a:avLst/>
          </a:prstGeom>
          <a:solidFill>
            <a:srgbClr val="81292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2926080"/>
            <a:ext cx="347472" cy="365760"/>
          </a:xfrm>
          <a:prstGeom prst="roundRect">
            <a:avLst>
              <a:gd name="adj" fmla="val 21053"/>
            </a:avLst>
          </a:prstGeom>
          <a:solidFill>
            <a:srgbClr val="812923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971800"/>
            <a:ext cx="274320" cy="0"/>
          </a:xfrm>
          <a:prstGeom prst="line">
            <a:avLst/>
          </a:prstGeom>
          <a:noFill/>
          <a:ln w="25400">
            <a:solidFill>
              <a:srgbClr val="81292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09728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queue feeds workers for ASR, parsing and embedding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scalability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flipV="1">
            <a:off x="5943600" y="2377440"/>
            <a:ext cx="731520" cy="640080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1965960"/>
            <a:ext cx="822960" cy="822960"/>
          </a:xfrm>
          <a:prstGeom prst="ellipse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20116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explanations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Indian-language chat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3017520"/>
            <a:ext cx="731520" cy="411480"/>
          </a:xfrm>
          <a:prstGeom prst="line">
            <a:avLst/>
          </a:prstGeom>
          <a:noFill/>
          <a:ln w="19050">
            <a:solidFill>
              <a:srgbClr val="7A5A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3017520"/>
            <a:ext cx="822960" cy="822960"/>
          </a:xfrm>
          <a:prstGeom prst="ellipse">
            <a:avLst/>
          </a:prstGeom>
          <a:solidFill>
            <a:srgbClr val="7A5A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063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tutoring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briefs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3017520"/>
            <a:ext cx="731520" cy="1463040"/>
          </a:xfrm>
          <a:prstGeom prst="line">
            <a:avLst/>
          </a:prstGeom>
          <a:noFill/>
          <a:ln w="19050">
            <a:solidFill>
              <a:srgbClr val="1FA6A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4069080"/>
            <a:ext cx="822960" cy="822960"/>
          </a:xfrm>
          <a:prstGeom prst="ellipse">
            <a:avLst/>
          </a:prstGeom>
          <a:solidFill>
            <a:srgbClr val="1FA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41148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course material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subjects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2240280"/>
            <a:ext cx="1554480" cy="1554480"/>
          </a:xfrm>
          <a:prstGeom prst="ellipse">
            <a:avLst/>
          </a:prstGeom>
          <a:solidFill>
            <a:srgbClr val="0F5F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model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2468880" cy="1737360"/>
          </a:xfrm>
          <a:prstGeom prst="roundRect">
            <a:avLst>
              <a:gd name="adj" fmla="val 4211"/>
            </a:avLst>
          </a:prstGeom>
          <a:ln w="19050">
            <a:solidFill>
              <a:srgbClr val="187AB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quiz or intake chat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mastery seeded per topic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3246120"/>
            <a:ext cx="1554480" cy="45720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920240"/>
            <a:ext cx="2468880" cy="1737360"/>
          </a:xfrm>
          <a:prstGeom prst="roundRect">
            <a:avLst>
              <a:gd name="adj" fmla="val 4211"/>
            </a:avLst>
          </a:prstGeom>
          <a:ln w="19050">
            <a:solidFill>
              <a:srgbClr val="1FA6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update of topic mastery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review set by forgetting curve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691640"/>
            <a:ext cx="2103120" cy="45720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after every answer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468880" cy="1737360"/>
          </a:xfrm>
          <a:prstGeom prst="roundRect">
            <a:avLst>
              <a:gd name="adj" fmla="val 4211"/>
            </a:avLst>
          </a:prstGeom>
          <a:ln w="19050">
            <a:solidFill>
              <a:srgbClr val="E88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question picked by weak topic and difficulty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re-checked on new response data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3246120"/>
            <a:ext cx="1554480" cy="45720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2743200"/>
            <a:ext cx="411480" cy="0"/>
          </a:xfrm>
          <a:prstGeom prst="line">
            <a:avLst/>
          </a:prstGeom>
          <a:noFill/>
          <a:ln w="76200">
            <a:solidFill>
              <a:srgbClr val="A9CDE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06440" y="2743200"/>
            <a:ext cx="411480" cy="0"/>
          </a:xfrm>
          <a:prstGeom prst="line">
            <a:avLst/>
          </a:prstGeom>
          <a:noFill/>
          <a:ln w="76200">
            <a:solidFill>
              <a:srgbClr val="A9CDE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3657600"/>
            <a:ext cx="0" cy="411480"/>
          </a:xfrm>
          <a:prstGeom prst="line">
            <a:avLst/>
          </a:prstGeom>
          <a:noFill/>
          <a:ln w="25400">
            <a:solidFill>
              <a:srgbClr val="7A5A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691640" y="4069080"/>
            <a:ext cx="5760720" cy="0"/>
          </a:xfrm>
          <a:prstGeom prst="line">
            <a:avLst/>
          </a:prstGeom>
          <a:noFill/>
          <a:ln w="25400">
            <a:solidFill>
              <a:srgbClr val="7A5A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691640" y="3703320"/>
            <a:ext cx="0" cy="365760"/>
          </a:xfrm>
          <a:prstGeom prst="line">
            <a:avLst/>
          </a:prstGeom>
          <a:noFill/>
          <a:ln w="25400">
            <a:solidFill>
              <a:srgbClr val="7A5AB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84048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solution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920240" cy="457200"/>
          </a:xfrm>
          <a:prstGeom prst="rect">
            <a:avLst/>
          </a:prstGeom>
          <a:solidFill>
            <a:srgbClr val="187AB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Grounded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87AB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1848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opens the exact page, slide or timestamp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051560"/>
            <a:ext cx="1920240" cy="457200"/>
          </a:xfrm>
          <a:prstGeom prst="rect">
            <a:avLst/>
          </a:prstGeom>
          <a:solidFill>
            <a:srgbClr val="81292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Honest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150876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129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0048" y="161848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Declines or flags what the material does not cover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51560"/>
            <a:ext cx="1920240" cy="457200"/>
          </a:xfrm>
          <a:prstGeom prst="rect">
            <a:avLst/>
          </a:prstGeom>
          <a:solidFill>
            <a:srgbClr val="7A5AB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Personal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7A5A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61848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Per-topic mastery updates after every quiz and chat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051560"/>
            <a:ext cx="1920240" cy="457200"/>
          </a:xfrm>
          <a:prstGeom prst="rect">
            <a:avLst/>
          </a:prstGeom>
          <a:solidFill>
            <a:srgbClr val="1FA6A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Trustworthy quizzes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150876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A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6288" y="161848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keys verified; questions never repeated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34640"/>
            <a:ext cx="1920240" cy="457200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Measurable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88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40156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/ DeepEval metrics and simulated-student gains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2834640"/>
            <a:ext cx="1920240" cy="457200"/>
          </a:xfrm>
          <a:prstGeom prst="rect">
            <a:avLst/>
          </a:prstGeom>
          <a:solidFill>
            <a:srgbClr val="2C927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Learner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60320" y="329184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927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0048" y="340156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graph and mastery steer what to study next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834640"/>
            <a:ext cx="1920240" cy="457200"/>
          </a:xfrm>
          <a:prstGeom prst="rect">
            <a:avLst/>
          </a:prstGeom>
          <a:solidFill>
            <a:srgbClr val="0F5F8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Robust start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3291840"/>
            <a:ext cx="1920240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F5F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73168" y="3401568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diagnostic quiz covers students with no history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834640"/>
            <a:ext cx="1920240" cy="1600200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already offers cited answers and source-based quizzes. Our edge is the persistent learner model and measured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80160" y="1828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50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Mind  |  Multimodal AI Hackathon 2026  |  Track 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Modal Mind - Track D</dc:title>
  <dc:subject>PptxGenJS Presentation</dc:subject>
  <dc:creator>PptxGenJS</dc:creator>
  <cp:lastModifiedBy>PptxGenJS</cp:lastModifiedBy>
  <cp:revision>1</cp:revision>
  <dcterms:created xsi:type="dcterms:W3CDTF">2026-09-30T06:33:13Z</dcterms:created>
  <dcterms:modified xsi:type="dcterms:W3CDTF">2026-09-30T06:33:13Z</dcterms:modified>
</cp:coreProperties>
</file>